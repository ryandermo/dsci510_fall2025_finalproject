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7" r:id="rId6"/>
    <p:sldId id="280" r:id="rId7"/>
    <p:sldId id="278" r:id="rId8"/>
    <p:sldId id="281" r:id="rId9"/>
    <p:sldId id="282" r:id="rId10"/>
    <p:sldId id="27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3204" autoAdjust="0"/>
  </p:normalViewPr>
  <p:slideViewPr>
    <p:cSldViewPr snapToGrid="0">
      <p:cViewPr>
        <p:scale>
          <a:sx n="125" d="100"/>
          <a:sy n="125" d="100"/>
        </p:scale>
        <p:origin x="1584" y="642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of the most popular games have some of the fewest reviews</a:t>
            </a:r>
          </a:p>
          <a:p>
            <a:r>
              <a:rPr lang="en-US" dirty="0"/>
              <a:t>A lot of the popular games are near their peaks</a:t>
            </a:r>
          </a:p>
          <a:p>
            <a:r>
              <a:rPr lang="en-US" dirty="0"/>
              <a:t>Discounts don’t track well to their popularity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30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117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889768" cy="2039341"/>
          </a:xfrm>
        </p:spPr>
        <p:txBody>
          <a:bodyPr anchor="t">
            <a:normAutofit/>
          </a:bodyPr>
          <a:lstStyle/>
          <a:p>
            <a:r>
              <a:rPr lang="en-US" dirty="0"/>
              <a:t>SteamCharts</a:t>
            </a:r>
            <a:br>
              <a:rPr lang="en-US" dirty="0"/>
            </a:br>
            <a:r>
              <a:rPr lang="en-US" dirty="0"/>
              <a:t>What's Popular?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1AD2DFD-19F7-7597-D739-E616DEEEE4F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77647" y="2160412"/>
            <a:ext cx="5036706" cy="6510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Searching for trends and hidden gems amongst the most popular games on Steam.</a:t>
            </a: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1B4D35C9-5D07-6006-4A08-469319A99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126" y="3225807"/>
            <a:ext cx="3006531" cy="3006531"/>
          </a:xfrm>
          <a:prstGeom prst="rect">
            <a:avLst/>
          </a:prstGeom>
          <a:noFill/>
        </p:spPr>
      </p:pic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68A3BB10-D561-9976-7530-B2F723303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E9FD7C-B5EB-E544-70A7-9043134EA636}"/>
              </a:ext>
            </a:extLst>
          </p:cNvPr>
          <p:cNvSpPr txBox="1">
            <a:spLocks/>
          </p:cNvSpPr>
          <p:nvPr/>
        </p:nvSpPr>
        <p:spPr>
          <a:xfrm>
            <a:off x="3577647" y="4552086"/>
            <a:ext cx="4424490" cy="3539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Ryan McDermott | DSCI510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2316" y="296227"/>
            <a:ext cx="5436624" cy="892016"/>
          </a:xfrm>
        </p:spPr>
        <p:txBody>
          <a:bodyPr>
            <a:normAutofit/>
          </a:bodyPr>
          <a:lstStyle/>
          <a:p>
            <a:pPr algn="r"/>
            <a:r>
              <a:rPr lang="en-US" sz="5400" dirty="0"/>
              <a:t>DATA Sources</a:t>
            </a:r>
            <a:endParaRPr lang="en-ZA" sz="5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F5474DC-709E-7C7E-83F5-6ACFEEF25134}"/>
              </a:ext>
            </a:extLst>
          </p:cNvPr>
          <p:cNvGraphicFramePr>
            <a:graphicFrameLocks noGrp="1"/>
          </p:cNvGraphicFramePr>
          <p:nvPr>
            <p:ph sz="half" idx="14"/>
            <p:extLst>
              <p:ext uri="{D42A27DB-BD31-4B8C-83A1-F6EECF244321}">
                <p14:modId xmlns:p14="http://schemas.microsoft.com/office/powerpoint/2010/main" val="4036788111"/>
              </p:ext>
            </p:extLst>
          </p:nvPr>
        </p:nvGraphicFramePr>
        <p:xfrm>
          <a:off x="243840" y="2743201"/>
          <a:ext cx="10615100" cy="3978273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299601">
                  <a:extLst>
                    <a:ext uri="{9D8B030D-6E8A-4147-A177-3AD203B41FA5}">
                      <a16:colId xmlns:a16="http://schemas.microsoft.com/office/drawing/2014/main" val="2310241308"/>
                    </a:ext>
                  </a:extLst>
                </a:gridCol>
                <a:gridCol w="3011539">
                  <a:extLst>
                    <a:ext uri="{9D8B030D-6E8A-4147-A177-3AD203B41FA5}">
                      <a16:colId xmlns:a16="http://schemas.microsoft.com/office/drawing/2014/main" val="653670418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72098712"/>
                    </a:ext>
                  </a:extLst>
                </a:gridCol>
                <a:gridCol w="2012120">
                  <a:extLst>
                    <a:ext uri="{9D8B030D-6E8A-4147-A177-3AD203B41FA5}">
                      <a16:colId xmlns:a16="http://schemas.microsoft.com/office/drawing/2014/main" val="1843084323"/>
                    </a:ext>
                  </a:extLst>
                </a:gridCol>
              </a:tblGrid>
              <a:tr h="410343"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Description/Type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157335"/>
                  </a:ext>
                </a:extLst>
              </a:tr>
              <a:tr h="1189310">
                <a:tc>
                  <a:txBody>
                    <a:bodyPr/>
                    <a:lstStyle/>
                    <a:p>
                      <a:r>
                        <a:rPr lang="en-US" sz="1600" b="1" dirty="0"/>
                        <a:t>SteamCharts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Website that presents the most popular games on Steam currently. Includes game names, appids, current players and peak players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site is scraped via </a:t>
                      </a:r>
                      <a:r>
                        <a:rPr lang="en-US" sz="1400" dirty="0" err="1"/>
                        <a:t>beautifulsoup</a:t>
                      </a:r>
                      <a:r>
                        <a:rPr lang="en-US" sz="1400" dirty="0"/>
                        <a:t> to collect information one the requested number of games.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375 rows x 4 columns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510523"/>
                  </a:ext>
                </a:extLst>
              </a:tr>
              <a:tr h="1189310">
                <a:tc>
                  <a:txBody>
                    <a:bodyPr/>
                    <a:lstStyle/>
                    <a:p>
                      <a:r>
                        <a:rPr lang="en-US" sz="1600" b="1" dirty="0"/>
                        <a:t>Steam Store Web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API that returns specific information such as price, discounts, if it’s free, release 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Steam appids scraped from SteamCharts are used to request information from the Steam Store Web API.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375 rows x 9 columns</a:t>
                      </a:r>
                    </a:p>
                    <a:p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937796"/>
                  </a:ext>
                </a:extLst>
              </a:tr>
              <a:tr h="1189310">
                <a:tc>
                  <a:txBody>
                    <a:bodyPr/>
                    <a:lstStyle/>
                    <a:p>
                      <a:r>
                        <a:rPr lang="en-US" sz="1600" b="1" dirty="0"/>
                        <a:t>OpenCritic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API that returns review information such as top critic review, median critic scores, % recommended, total reviews and a ranking tier.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OpenCritic API is used to and the game name is searched and the initial results returned.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375 rows x 7 columns</a:t>
                      </a:r>
                    </a:p>
                    <a:p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1658074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6285DBA9-3AB6-7041-2FF6-385A4BDD1C77}"/>
              </a:ext>
            </a:extLst>
          </p:cNvPr>
          <p:cNvGrpSpPr/>
          <p:nvPr/>
        </p:nvGrpSpPr>
        <p:grpSpPr>
          <a:xfrm>
            <a:off x="932033" y="227683"/>
            <a:ext cx="5644026" cy="2420386"/>
            <a:chOff x="932033" y="227683"/>
            <a:chExt cx="5644026" cy="242038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6F1FC7E-E77C-D6D4-3C58-44E6D94E7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2033" y="227683"/>
              <a:ext cx="3457087" cy="96056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6DD104B-F560-EA91-F125-8CEBB70C3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2033" y="1482208"/>
              <a:ext cx="1165861" cy="116586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712DA9C-02A6-D479-F718-E9DC67661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42394" y="1619130"/>
              <a:ext cx="3333665" cy="892016"/>
            </a:xfrm>
            <a:prstGeom prst="rect">
              <a:avLst/>
            </a:prstGeom>
          </p:spPr>
        </p:pic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9E426FE8-023B-379E-2688-EDCFAB8B1967}"/>
                </a:ext>
              </a:extLst>
            </p:cNvPr>
            <p:cNvSpPr/>
            <p:nvPr/>
          </p:nvSpPr>
          <p:spPr>
            <a:xfrm rot="8247241">
              <a:off x="1951899" y="1352668"/>
              <a:ext cx="662163" cy="259080"/>
            </a:xfrm>
            <a:prstGeom prst="rightArrow">
              <a:avLst>
                <a:gd name="adj1" fmla="val 26471"/>
                <a:gd name="adj2" fmla="val 10294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73CE25A6-DA4A-6330-74AC-9A03CA4BA987}"/>
                </a:ext>
              </a:extLst>
            </p:cNvPr>
            <p:cNvSpPr/>
            <p:nvPr/>
          </p:nvSpPr>
          <p:spPr>
            <a:xfrm>
              <a:off x="2339062" y="1916686"/>
              <a:ext cx="662163" cy="259080"/>
            </a:xfrm>
            <a:prstGeom prst="rightArrow">
              <a:avLst>
                <a:gd name="adj1" fmla="val 26471"/>
                <a:gd name="adj2" fmla="val 10294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82225-E5E6-5DB7-775B-8952C771E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0999ADAE-51C2-FECE-9748-9FFA444C85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365" t="5232" b="4074"/>
          <a:stretch>
            <a:fillRect/>
          </a:stretch>
        </p:blipFill>
        <p:spPr>
          <a:xfrm>
            <a:off x="10469880" y="0"/>
            <a:ext cx="17830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AC5F52-2646-3A90-036E-DF4B6671F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96" y="377952"/>
            <a:ext cx="9637184" cy="650748"/>
          </a:xfrm>
        </p:spPr>
        <p:txBody>
          <a:bodyPr>
            <a:normAutofit/>
          </a:bodyPr>
          <a:lstStyle/>
          <a:p>
            <a:r>
              <a:rPr lang="en-US" sz="3600" dirty="0"/>
              <a:t>Ratings, Discounts, &amp; Popularity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1B801-2602-5367-CFF1-E8D3AE7C6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8996B5-8575-A997-632E-38273C1EB3A5}"/>
                  </a:ext>
                </a:extLst>
              </p:cNvPr>
              <p:cNvSpPr>
                <a:spLocks noGrp="1"/>
              </p:cNvSpPr>
              <p:nvPr>
                <p:ph sz="half" idx="15"/>
              </p:nvPr>
            </p:nvSpPr>
            <p:spPr>
              <a:xfrm>
                <a:off x="527520" y="1814195"/>
                <a:ext cx="4228227" cy="502920"/>
              </a:xfr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𝑃𝑜𝑝𝑢𝑙𝑎𝑟𝑖𝑡𝑦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𝐹𝑎𝑐𝑡𝑜𝑟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𝐶𝑢𝑟𝑟𝑒𝑛𝑡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𝑃𝑙𝑎𝑦𝑒𝑟𝑠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𝑃𝑒𝑎𝑘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𝑃𝑙𝑎𝑦𝑒𝑟𝑠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D8996B5-8575-A997-632E-38273C1EB3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5"/>
              </p:nvPr>
            </p:nvSpPr>
            <p:spPr>
              <a:xfrm>
                <a:off x="527520" y="1814195"/>
                <a:ext cx="4228227" cy="502920"/>
              </a:xfrm>
              <a:blipFill>
                <a:blip r:embed="rId4"/>
                <a:stretch>
                  <a:fillRect t="-45122" r="-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1F1B9D02-5AFD-1917-4D3C-CEF7568E024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79358" y="3102610"/>
            <a:ext cx="3686175" cy="30003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07A053-2FAE-C3F5-FB64-C26D77D9E66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3102610"/>
            <a:ext cx="3952875" cy="29432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148750-5DF6-CB63-6F10-0530FD936C2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185"/>
          <a:stretch>
            <a:fillRect/>
          </a:stretch>
        </p:blipFill>
        <p:spPr>
          <a:xfrm>
            <a:off x="0" y="6064598"/>
            <a:ext cx="4528185" cy="160772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1EF3826-8380-21D7-154A-4AE578C0A89F}"/>
              </a:ext>
            </a:extLst>
          </p:cNvPr>
          <p:cNvGrpSpPr/>
          <p:nvPr/>
        </p:nvGrpSpPr>
        <p:grpSpPr>
          <a:xfrm>
            <a:off x="8240581" y="3142932"/>
            <a:ext cx="3695700" cy="3124231"/>
            <a:chOff x="7427595" y="-376724"/>
            <a:chExt cx="3695700" cy="312423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D313B5F-EC09-821F-DDA9-92B685AA7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427595" y="-376724"/>
              <a:ext cx="3695700" cy="295275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C4DE8A3-36A5-665B-2D33-6136B98CC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11997" r="646" b="-11113"/>
            <a:stretch>
              <a:fillRect/>
            </a:stretch>
          </p:blipFill>
          <p:spPr>
            <a:xfrm>
              <a:off x="7427595" y="2576026"/>
              <a:ext cx="3695700" cy="171481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58E7956-F321-A46A-4F5A-538FA63D5003}"/>
              </a:ext>
            </a:extLst>
          </p:cNvPr>
          <p:cNvSpPr txBox="1"/>
          <p:nvPr/>
        </p:nvSpPr>
        <p:spPr>
          <a:xfrm>
            <a:off x="5367841" y="1245275"/>
            <a:ext cx="574548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 was cleaned to remove games that didn’t have any OpenCritic reviews and were marked as not free but had a price of 0$.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data set went from 375 games to 286 games.</a:t>
            </a:r>
          </a:p>
          <a:p>
            <a:r>
              <a:rPr lang="en-US" sz="1400" dirty="0"/>
              <a:t>and then split between Free and Paid games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60 Free Games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226 Paid Games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86 of which were discounted</a:t>
            </a:r>
          </a:p>
        </p:txBody>
      </p:sp>
    </p:spTree>
    <p:extLst>
      <p:ext uri="{BB962C8B-B14F-4D97-AF65-F5344CB8AC3E}">
        <p14:creationId xmlns:p14="http://schemas.microsoft.com/office/powerpoint/2010/main" val="3804545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93ADC27-D082-B679-2DA0-888A40BA60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365" t="5232" b="4074"/>
          <a:stretch>
            <a:fillRect/>
          </a:stretch>
        </p:blipFill>
        <p:spPr>
          <a:xfrm>
            <a:off x="10469880" y="0"/>
            <a:ext cx="1783080" cy="685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638AC8-37A7-3E68-2CE5-9CF11E289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976" y="725805"/>
            <a:ext cx="5959523" cy="54940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DD82D0-3608-BD39-A14D-954BD2439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136" y="278892"/>
            <a:ext cx="9998888" cy="711708"/>
          </a:xfrm>
        </p:spPr>
        <p:txBody>
          <a:bodyPr>
            <a:normAutofit/>
          </a:bodyPr>
          <a:lstStyle/>
          <a:p>
            <a:r>
              <a:rPr lang="en-US" sz="3600" dirty="0"/>
              <a:t>Free vs PAID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250D0-30C2-C268-9E7C-853E5B6A3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A61306-D3E8-D19B-80F5-DE71C0D38EB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81332" y="4390152"/>
            <a:ext cx="2941409" cy="21889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371D04-F97B-BB99-7D8F-431FF2AFC35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94284" y="2095534"/>
            <a:ext cx="2933809" cy="21889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C90A9E-4FDF-1924-AFAC-D8B629A3E9E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837" y="2087934"/>
            <a:ext cx="2812200" cy="2196556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4306BCF5-5840-953D-0142-E2F7144A006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17112" y="974735"/>
            <a:ext cx="5878888" cy="1257925"/>
          </a:xfrm>
        </p:spPr>
        <p:txBody>
          <a:bodyPr>
            <a:normAutofit/>
          </a:bodyPr>
          <a:lstStyle/>
          <a:p>
            <a:r>
              <a:rPr lang="en-US" dirty="0"/>
              <a:t>Interestingly, paid games tend to carry higher critic scores – both top and median, but free games edge out on popularity.</a:t>
            </a:r>
          </a:p>
        </p:txBody>
      </p:sp>
    </p:spTree>
    <p:extLst>
      <p:ext uri="{BB962C8B-B14F-4D97-AF65-F5344CB8AC3E}">
        <p14:creationId xmlns:p14="http://schemas.microsoft.com/office/powerpoint/2010/main" val="1447908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358E72D-624A-4626-9DD3-EAEF9A0705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65" t="5232" b="4074"/>
          <a:stretch>
            <a:fillRect/>
          </a:stretch>
        </p:blipFill>
        <p:spPr>
          <a:xfrm>
            <a:off x="10469880" y="0"/>
            <a:ext cx="17830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8C09-484F-60C0-F454-11FB29DF9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21" y="349609"/>
            <a:ext cx="9389288" cy="1362456"/>
          </a:xfrm>
        </p:spPr>
        <p:txBody>
          <a:bodyPr>
            <a:normAutofit/>
          </a:bodyPr>
          <a:lstStyle/>
          <a:p>
            <a:r>
              <a:rPr lang="en-US" sz="3600" dirty="0"/>
              <a:t>Release Dates and AGING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7EE025-6ABE-D83D-6D99-088C8E9D1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5F81CD-1A36-0E25-0487-99287B58E2B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20330" y="3086735"/>
            <a:ext cx="3600450" cy="2971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4E9204-FC30-6CB4-0025-60FAD2698D6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21979" y="3086735"/>
            <a:ext cx="3752850" cy="29813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A6CB69D-3863-63EE-8130-E4A5B19C9FD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2481" y="3086735"/>
            <a:ext cx="3676650" cy="2895600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29C5F34-77B5-EC77-19D4-9CD5A4E182E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17112" y="1083102"/>
            <a:ext cx="9970828" cy="1257925"/>
          </a:xfrm>
        </p:spPr>
        <p:txBody>
          <a:bodyPr>
            <a:normAutofit/>
          </a:bodyPr>
          <a:lstStyle/>
          <a:p>
            <a:r>
              <a:rPr lang="en-US" dirty="0"/>
              <a:t>Unsurprisingly, the best rated games were the most popular per the OpenCritic tiers.</a:t>
            </a:r>
          </a:p>
          <a:p>
            <a:r>
              <a:rPr lang="en-US" dirty="0"/>
              <a:t>The older a game is in the list, the more likely it was reviewed highly.</a:t>
            </a:r>
          </a:p>
          <a:p>
            <a:r>
              <a:rPr lang="en-US" dirty="0"/>
              <a:t>The most popular games are currently dominated by newer games.</a:t>
            </a:r>
          </a:p>
        </p:txBody>
      </p:sp>
    </p:spTree>
    <p:extLst>
      <p:ext uri="{BB962C8B-B14F-4D97-AF65-F5344CB8AC3E}">
        <p14:creationId xmlns:p14="http://schemas.microsoft.com/office/powerpoint/2010/main" val="906366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45852B8-BAB2-19C6-C4CE-269EB91E31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65" t="5232" b="4074"/>
          <a:stretch>
            <a:fillRect/>
          </a:stretch>
        </p:blipFill>
        <p:spPr>
          <a:xfrm>
            <a:off x="10469880" y="0"/>
            <a:ext cx="1783080" cy="685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BF8073D-C5E0-AABD-37AE-04CC5C9EB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594" y="4662597"/>
            <a:ext cx="5295900" cy="164669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08D3FF9-986D-54C1-72B5-5F2121755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595" y="2545077"/>
            <a:ext cx="5295900" cy="1788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A6D07E-9621-A30A-DD54-8907B8FEE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4594" y="673474"/>
            <a:ext cx="5295900" cy="16492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8F0B7B-6702-4C16-C11D-FB61FACDD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 Gems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8FB40D-8464-4FFC-E6EF-812C621A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12C97AE1-CD9D-B155-9D71-9F43F40F92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3942" y="1923606"/>
                <a:ext cx="5766224" cy="46183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-228600" algn="l" defTabSz="914400" rtl="0" eaLnBrk="1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228600" algn="l" defTabSz="914400" rtl="0" eaLnBrk="1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-228600" algn="l" defTabSz="914400" rtl="0" eaLnBrk="1" latinLnBrk="0" hangingPunct="1">
                  <a:lnSpc>
                    <a:spcPts val="2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latin typeface="Cambria Math" panose="02040503050406030204" pitchFamily="18" charset="0"/>
                  </a:rPr>
                  <a:t>To locate the “best” and “worst” of the most popular games, a Value equation is calculated below:</a:t>
                </a:r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𝑉𝑎𝑙𝑢𝑒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𝑇𝑜𝑝𝐶𝑟𝑖𝑡𝑖𝑐𝑆𝑐𝑜𝑟𝑒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𝑃𝑜𝑝𝑢𝑙𝑎𝑟𝑖𝑡𝑦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𝐹𝑎𝑐𝑡𝑜𝑟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𝐷𝑖𝑠𝑐𝑜𝑢𝑛𝑡𝑒𝑑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𝑃𝑟𝑖𝑐𝑒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+200</m:t>
                          </m:r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This value calculation attempts to prioritize popularity and the highest ratings over the cost – otherwise free games tend to dominate the value rankings.</a:t>
                </a:r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The worst value tend to be the most expensive games that have become abandoned while also being rated lower than the majority of the games queried.</a:t>
                </a:r>
              </a:p>
            </p:txBody>
          </p:sp>
        </mc:Choice>
        <mc:Fallback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12C97AE1-CD9D-B155-9D71-9F43F40F9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42" y="1923606"/>
                <a:ext cx="5766224" cy="4618354"/>
              </a:xfrm>
              <a:prstGeom prst="rect">
                <a:avLst/>
              </a:prstGeom>
              <a:blipFill>
                <a:blip r:embed="rId6"/>
                <a:stretch>
                  <a:fillRect l="-951" t="-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1327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1F477-B61B-D9A0-C414-EA4927DE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/ Issues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E2A1A-40BF-5457-BCE5-AE6646079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E11B8-F41F-EB9A-92C1-AB98C7339B7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44805" y="2311845"/>
            <a:ext cx="7799939" cy="331733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Initial SteamCharts scraping limited to 25 games due to the charts only displaying 25 at a time. Had to scrape through multiple pages.</a:t>
            </a:r>
          </a:p>
          <a:p>
            <a:r>
              <a:rPr lang="en-US" dirty="0"/>
              <a:t>Steam Store Web API request limitations. API calls continued to fail after some point. Discovered I was limited to 200 requests every 5 minutes and found I could use </a:t>
            </a:r>
            <a:r>
              <a:rPr lang="en-US" dirty="0" err="1"/>
              <a:t>time.sleep</a:t>
            </a:r>
            <a:r>
              <a:rPr lang="en-US" dirty="0"/>
              <a:t> to slow my requests to &gt;1.5 seconds and prevent the request limit from being hit.</a:t>
            </a:r>
          </a:p>
          <a:p>
            <a:r>
              <a:rPr lang="en-US" dirty="0"/>
              <a:t>SteamCharts presents dynamic tables that include player counts per day, unsuccessfully tried to scrape data for the previous 7 days.</a:t>
            </a:r>
          </a:p>
          <a:p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154ED8-8478-66A7-DF97-6FA7A527087D}"/>
              </a:ext>
            </a:extLst>
          </p:cNvPr>
          <p:cNvGrpSpPr/>
          <p:nvPr/>
        </p:nvGrpSpPr>
        <p:grpSpPr>
          <a:xfrm>
            <a:off x="8530250" y="5045105"/>
            <a:ext cx="2193607" cy="1182970"/>
            <a:chOff x="9000173" y="2197495"/>
            <a:chExt cx="2905125" cy="156667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87E98C2-48B6-3856-6C02-235241937ABA}"/>
                </a:ext>
              </a:extLst>
            </p:cNvPr>
            <p:cNvGrpSpPr/>
            <p:nvPr/>
          </p:nvGrpSpPr>
          <p:grpSpPr>
            <a:xfrm>
              <a:off x="9224010" y="2197495"/>
              <a:ext cx="2457451" cy="1566678"/>
              <a:chOff x="9391650" y="1862322"/>
              <a:chExt cx="2457451" cy="1566678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0491D76B-8674-1C34-1001-6E27694EE9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391650" y="2426586"/>
                <a:ext cx="2457450" cy="42862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58B109B-566C-779C-F9AC-D85781B1C2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91650" y="1862322"/>
                <a:ext cx="2457450" cy="43815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58DDDB7-D75F-378A-FDFC-2930F0B7D7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99" r="2771"/>
              <a:stretch>
                <a:fillRect/>
              </a:stretch>
            </p:blipFill>
            <p:spPr>
              <a:xfrm>
                <a:off x="9391651" y="2981325"/>
                <a:ext cx="2457450" cy="447675"/>
              </a:xfrm>
              <a:prstGeom prst="rect">
                <a:avLst/>
              </a:prstGeom>
            </p:spPr>
          </p:pic>
        </p:grpSp>
        <p:sp>
          <p:nvSpPr>
            <p:cNvPr id="13" name="Arrow: U-Turn 12">
              <a:extLst>
                <a:ext uri="{FF2B5EF4-FFF2-40B4-BE49-F238E27FC236}">
                  <a16:creationId xmlns:a16="http://schemas.microsoft.com/office/drawing/2014/main" id="{F5DBFEC0-7191-4482-67CE-CEEA3550B04C}"/>
                </a:ext>
              </a:extLst>
            </p:cNvPr>
            <p:cNvSpPr/>
            <p:nvPr/>
          </p:nvSpPr>
          <p:spPr>
            <a:xfrm rot="5400000">
              <a:off x="11473139" y="2603935"/>
              <a:ext cx="640479" cy="223838"/>
            </a:xfrm>
            <a:prstGeom prst="utur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Arrow: U-Turn 13">
              <a:extLst>
                <a:ext uri="{FF2B5EF4-FFF2-40B4-BE49-F238E27FC236}">
                  <a16:creationId xmlns:a16="http://schemas.microsoft.com/office/drawing/2014/main" id="{F8DBD4A9-C4A2-0576-56FE-0D54AD8B6F84}"/>
                </a:ext>
              </a:extLst>
            </p:cNvPr>
            <p:cNvSpPr/>
            <p:nvPr/>
          </p:nvSpPr>
          <p:spPr>
            <a:xfrm rot="16200000" flipH="1">
              <a:off x="8791852" y="3179336"/>
              <a:ext cx="640479" cy="223838"/>
            </a:xfrm>
            <a:prstGeom prst="utur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1EBABEB-D707-5B88-1CDE-2A92B2353E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3760" y="136525"/>
            <a:ext cx="2626588" cy="4740478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49E652D-8F08-B203-A048-0E120DF4C7E5}"/>
              </a:ext>
            </a:extLst>
          </p:cNvPr>
          <p:cNvGrpSpPr/>
          <p:nvPr/>
        </p:nvGrpSpPr>
        <p:grpSpPr>
          <a:xfrm>
            <a:off x="3294961" y="5357002"/>
            <a:ext cx="2225041" cy="978039"/>
            <a:chOff x="5783578" y="5437759"/>
            <a:chExt cx="2225041" cy="978039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DC767A1-8975-7354-FB7B-2BFAF661F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44925" t="18063" r="32745" b="46446"/>
            <a:stretch>
              <a:fillRect/>
            </a:stretch>
          </p:blipFill>
          <p:spPr>
            <a:xfrm>
              <a:off x="6309359" y="5437759"/>
              <a:ext cx="1173481" cy="70104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01B5B92-75A9-2A67-034A-A97B13BDBFC0}"/>
                </a:ext>
              </a:extLst>
            </p:cNvPr>
            <p:cNvSpPr txBox="1"/>
            <p:nvPr/>
          </p:nvSpPr>
          <p:spPr>
            <a:xfrm>
              <a:off x="5783578" y="6138799"/>
              <a:ext cx="22250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Dynamic Selection Example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007068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{2EFF03A3-E212-4987-9352-2E8C7E0F64E1}TF55c86556-70ea-476e-aa05-13a38f2d5b0da1381d77_win32-a3c664429073</Template>
  <TotalTime>296</TotalTime>
  <Words>536</Words>
  <Application>Microsoft Office PowerPoint</Application>
  <PresentationFormat>Widescreen</PresentationFormat>
  <Paragraphs>61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Avenir Next LT Pro</vt:lpstr>
      <vt:lpstr>Calibri</vt:lpstr>
      <vt:lpstr>Cambria Math</vt:lpstr>
      <vt:lpstr>Custom</vt:lpstr>
      <vt:lpstr>SteamCharts What's Popular?</vt:lpstr>
      <vt:lpstr>DATA Sources</vt:lpstr>
      <vt:lpstr>Ratings, Discounts, &amp; Popularity</vt:lpstr>
      <vt:lpstr>Free vs PAID</vt:lpstr>
      <vt:lpstr>Release Dates and AGING</vt:lpstr>
      <vt:lpstr>Hidden Gems</vt:lpstr>
      <vt:lpstr>Challenges / Issues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McDermott</dc:creator>
  <cp:lastModifiedBy>Ryan McDermott</cp:lastModifiedBy>
  <cp:revision>3</cp:revision>
  <dcterms:created xsi:type="dcterms:W3CDTF">2025-11-24T22:55:54Z</dcterms:created>
  <dcterms:modified xsi:type="dcterms:W3CDTF">2025-11-25T03:52:35Z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